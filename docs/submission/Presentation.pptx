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111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56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Asthra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7432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7432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9.png"/><Relationship Id="rId7" Type="http://schemas.openxmlformats.org/officeDocument/2006/relationships/image" Target="../media/image2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4.png"/><Relationship Id="rId7" Type="http://schemas.openxmlformats.org/officeDocument/2006/relationships/image" Target="../media/image2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9.png"/><Relationship Id="rId7" Type="http://schemas.openxmlformats.org/officeDocument/2006/relationships/image" Target="../media/image3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78638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563EB"/>
                </a:solidFill>
              </a:rPr>
              <a:t>ENVIRONMENT-AWARE ASTHMA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9202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0F172A"/>
                </a:solidFill>
              </a:rPr>
              <a:t>Asthra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C3AED"/>
                </a:solidFill>
              </a:rPr>
              <a:t>Digital Twin Platform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Anticipate. Understand. Act.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1605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</a:rPr>
              <a:t>A personalized respiratory-health platform combining clinical history, sensor telemetry and environmental context.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534924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E0EAFF"/>
          </a:solidFill>
          <a:ln w="12700">
            <a:solidFill>
              <a:srgbClr val="E0EA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5349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E3A8A"/>
                </a:solidFill>
              </a:rPr>
              <a:t>CLINICAL DECISION-SUPPORT RESEARCH PROTOTYPE</a:t>
            </a:r>
            <a:endParaRPr lang="en-US" sz="1200" dirty="0"/>
          </a:p>
        </p:txBody>
      </p:sp>
      <p:sp>
        <p:nvSpPr>
          <p:cNvPr id="11" name="Image card"/>
          <p:cNvSpPr/>
          <p:nvPr/>
        </p:nvSpPr>
        <p:spPr>
          <a:xfrm>
            <a:off x="6309360" y="1716024"/>
            <a:ext cx="5852160" cy="3425952"/>
          </a:xfrm>
          <a:prstGeom prst="roundRect">
            <a:avLst>
              <a:gd name="adj" fmla="val 373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pic>
        <p:nvPicPr>
          <p:cNvPr id="12" name="Image 1" descr="/home/claude/x/ppt/media/image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98904"/>
            <a:ext cx="5486400" cy="3060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</a:rPr>
              <a:t>01  /  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Asthma care is </a:t>
            </a:r>
            <a:r>
              <a:rPr lang="en-US" sz="3000" b="1" dirty="0">
                <a:solidFill>
                  <a:srgbClr val="2563EB"/>
                </a:solidFill>
              </a:rPr>
              <a:t>often reactive</a:t>
            </a:r>
            <a:endParaRPr lang="en-US" sz="3000" dirty="0"/>
          </a:p>
        </p:txBody>
      </p:sp>
      <p:sp>
        <p:nvSpPr>
          <p:cNvPr id="4" name="Row card"/>
          <p:cNvSpPr/>
          <p:nvPr/>
        </p:nvSpPr>
        <p:spPr>
          <a:xfrm>
            <a:off x="548640" y="1783080"/>
            <a:ext cx="5486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14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1305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288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Routine consultations provide only periodic snapshots of a changing condition.</a:t>
            </a:r>
            <a:endParaRPr lang="en-US" sz="1350" dirty="0"/>
          </a:p>
        </p:txBody>
      </p:sp>
      <p:sp>
        <p:nvSpPr>
          <p:cNvPr id="8" name="Row card"/>
          <p:cNvSpPr/>
          <p:nvPr/>
        </p:nvSpPr>
        <p:spPr>
          <a:xfrm>
            <a:off x="548640" y="2834640"/>
            <a:ext cx="5486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3017520"/>
            <a:ext cx="548640" cy="548640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14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1821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8803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Triggers such as PM₂.₅, pollen, humidity and cold air can vary throughout the day.</a:t>
            </a:r>
            <a:endParaRPr lang="en-US" sz="1350" dirty="0"/>
          </a:p>
        </p:txBody>
      </p:sp>
      <p:sp>
        <p:nvSpPr>
          <p:cNvPr id="12" name="Row card"/>
          <p:cNvSpPr/>
          <p:nvPr/>
        </p:nvSpPr>
        <p:spPr>
          <a:xfrm>
            <a:off x="548640" y="3886200"/>
            <a:ext cx="5486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0D9488">
              <a:alpha val="14000"/>
            </a:srgbClr>
          </a:solidFill>
          <a:ln w="12700">
            <a:solidFill>
              <a:srgbClr val="0D9488">
                <a:alpha val="14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23367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39319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Wearables and spirometers can generate data without enough personalized context.</a:t>
            </a:r>
            <a:endParaRPr lang="en-US" sz="1350" dirty="0"/>
          </a:p>
        </p:txBody>
      </p:sp>
      <p:sp>
        <p:nvSpPr>
          <p:cNvPr id="16" name="Row card"/>
          <p:cNvSpPr/>
          <p:nvPr/>
        </p:nvSpPr>
        <p:spPr>
          <a:xfrm>
            <a:off x="548640" y="4937760"/>
            <a:ext cx="5486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5120640"/>
            <a:ext cx="548640" cy="548640"/>
          </a:xfrm>
          <a:prstGeom prst="ellipse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>
                <a:alpha val="14000"/>
              </a:srgbClr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528523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54480" y="49834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Late recognition of deterioration may mean action begins after symptoms worsen.</a:t>
            </a:r>
            <a:endParaRPr lang="en-US" sz="1350" dirty="0"/>
          </a:p>
        </p:txBody>
      </p:sp>
      <p:sp>
        <p:nvSpPr>
          <p:cNvPr id="20" name="Image card"/>
          <p:cNvSpPr/>
          <p:nvPr/>
        </p:nvSpPr>
        <p:spPr>
          <a:xfrm>
            <a:off x="6355080" y="2239569"/>
            <a:ext cx="5394960" cy="3156102"/>
          </a:xfrm>
          <a:prstGeom prst="roundRect">
            <a:avLst>
              <a:gd name="adj" fmla="val 40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pic>
        <p:nvPicPr>
          <p:cNvPr id="21" name="Image 4" descr="/home/claude/x/ppt/media/image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376729"/>
            <a:ext cx="5120640" cy="2881782"/>
          </a:xfrm>
          <a:prstGeom prst="rect">
            <a:avLst/>
          </a:prstGeom>
        </p:spPr>
      </p:pic>
      <p:sp>
        <p:nvSpPr>
          <p:cNvPr id="22" name="Note pill"/>
          <p:cNvSpPr/>
          <p:nvPr/>
        </p:nvSpPr>
        <p:spPr>
          <a:xfrm>
            <a:off x="548640" y="6035040"/>
            <a:ext cx="11091672" cy="457200"/>
          </a:xfrm>
          <a:prstGeom prst="roundRect">
            <a:avLst>
              <a:gd name="adj" fmla="val 50000"/>
            </a:avLst>
          </a:prstGeom>
          <a:solidFill>
            <a:srgbClr val="E0EAFF"/>
          </a:solidFill>
          <a:ln w="12700">
            <a:solidFill>
              <a:srgbClr val="E0EAFF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6163056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143000" y="6035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</a:rPr>
              <a:t>Design goal: move from episodic observation toward earlier, contextual awareness.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7432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</a:rPr>
              <a:t>02  /  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 personalized digital twin for </a:t>
            </a:r>
            <a:r>
              <a:rPr lang="en-US" sz="3000" b="1" dirty="0">
                <a:solidFill>
                  <a:srgbClr val="2563EB"/>
                </a:solidFill>
              </a:rPr>
              <a:t>respiratory health</a:t>
            </a:r>
            <a:endParaRPr lang="en-US" sz="3000" dirty="0"/>
          </a:p>
        </p:txBody>
      </p:sp>
      <p:sp>
        <p:nvSpPr>
          <p:cNvPr id="4" name="Row card"/>
          <p:cNvSpPr/>
          <p:nvPr/>
        </p:nvSpPr>
        <p:spPr>
          <a:xfrm>
            <a:off x="548640" y="1783080"/>
            <a:ext cx="5486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14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1305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288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Combines historical clinical context with continuous physiological and environmental observations.</a:t>
            </a:r>
            <a:endParaRPr lang="en-US" sz="1350" dirty="0"/>
          </a:p>
        </p:txBody>
      </p:sp>
      <p:sp>
        <p:nvSpPr>
          <p:cNvPr id="8" name="Row card"/>
          <p:cNvSpPr/>
          <p:nvPr/>
        </p:nvSpPr>
        <p:spPr>
          <a:xfrm>
            <a:off x="548640" y="2834640"/>
            <a:ext cx="5486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3017520"/>
            <a:ext cx="548640" cy="548640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14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1821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8803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Builds patient-specific baselines rather than relying only on population thresholds.</a:t>
            </a:r>
            <a:endParaRPr lang="en-US" sz="1350" dirty="0"/>
          </a:p>
        </p:txBody>
      </p:sp>
      <p:sp>
        <p:nvSpPr>
          <p:cNvPr id="12" name="Row card"/>
          <p:cNvSpPr/>
          <p:nvPr/>
        </p:nvSpPr>
        <p:spPr>
          <a:xfrm>
            <a:off x="548640" y="3886200"/>
            <a:ext cx="5486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0D9488">
              <a:alpha val="14000"/>
            </a:srgbClr>
          </a:solidFill>
          <a:ln w="12700">
            <a:solidFill>
              <a:srgbClr val="0D9488">
                <a:alpha val="14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23367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39319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Estimates near-term deterioration risk and highlights potentially relevant contributors.</a:t>
            </a:r>
            <a:endParaRPr lang="en-US" sz="1350" dirty="0"/>
          </a:p>
        </p:txBody>
      </p:sp>
      <p:sp>
        <p:nvSpPr>
          <p:cNvPr id="16" name="Row card"/>
          <p:cNvSpPr/>
          <p:nvPr/>
        </p:nvSpPr>
        <p:spPr>
          <a:xfrm>
            <a:off x="548640" y="4937760"/>
            <a:ext cx="5486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5120640"/>
            <a:ext cx="548640" cy="548640"/>
          </a:xfrm>
          <a:prstGeom prst="ellipse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>
                <a:alpha val="14000"/>
              </a:srgbClr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528523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54480" y="49834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Lets clinicians explore hypothetical scenarios in an isolated simulation.</a:t>
            </a:r>
            <a:endParaRPr lang="en-US" sz="1350" dirty="0"/>
          </a:p>
        </p:txBody>
      </p:sp>
      <p:sp>
        <p:nvSpPr>
          <p:cNvPr id="20" name="Image card"/>
          <p:cNvSpPr/>
          <p:nvPr/>
        </p:nvSpPr>
        <p:spPr>
          <a:xfrm>
            <a:off x="6355080" y="2255215"/>
            <a:ext cx="5394960" cy="3124810"/>
          </a:xfrm>
          <a:prstGeom prst="roundRect">
            <a:avLst>
              <a:gd name="adj" fmla="val 40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pic>
        <p:nvPicPr>
          <p:cNvPr id="21" name="Image 4" descr="/home/claude/x/ppt/media/image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392375"/>
            <a:ext cx="5120640" cy="2850490"/>
          </a:xfrm>
          <a:prstGeom prst="rect">
            <a:avLst/>
          </a:prstGeom>
        </p:spPr>
      </p:pic>
      <p:sp>
        <p:nvSpPr>
          <p:cNvPr id="22" name="Note pill"/>
          <p:cNvSpPr/>
          <p:nvPr/>
        </p:nvSpPr>
        <p:spPr>
          <a:xfrm>
            <a:off x="548640" y="6035040"/>
            <a:ext cx="11091672" cy="457200"/>
          </a:xfrm>
          <a:prstGeom prst="roundRect">
            <a:avLst>
              <a:gd name="adj" fmla="val 50000"/>
            </a:avLst>
          </a:prstGeom>
          <a:solidFill>
            <a:srgbClr val="E0EAFF"/>
          </a:solidFill>
          <a:ln w="12700">
            <a:solidFill>
              <a:srgbClr val="E0EAFF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6163056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143000" y="6035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</a:rPr>
              <a:t>Asthra is a research prototype—not a replacement for clinical judgement or emergency care.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7432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</a:rPr>
              <a:t>03  /  INPUTS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Two data streams. </a:t>
            </a:r>
            <a:r>
              <a:rPr lang="en-US" sz="3000" b="1" dirty="0">
                <a:solidFill>
                  <a:srgbClr val="2563EB"/>
                </a:solidFill>
              </a:rPr>
              <a:t>One patient context.</a:t>
            </a:r>
            <a:endParaRPr lang="en-US" sz="3000" dirty="0"/>
          </a:p>
        </p:txBody>
      </p:sp>
      <p:sp>
        <p:nvSpPr>
          <p:cNvPr id="4" name="Input card"/>
          <p:cNvSpPr/>
          <p:nvPr/>
        </p:nvSpPr>
        <p:spPr>
          <a:xfrm>
            <a:off x="548640" y="1783080"/>
            <a:ext cx="54864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14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03120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965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563EB"/>
                </a:solidFill>
              </a:rPr>
              <a:t>HISTORICAL EHR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146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64748B"/>
                </a:solidFill>
              </a:rPr>
              <a:t>Synthetic Synthea records in HL7 FHIR R4 format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Diagnoses, encounters and medications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Allergies, laboratory results and CT metadata</a:t>
            </a:r>
            <a:endParaRPr lang="en-US" sz="1300" dirty="0"/>
          </a:p>
        </p:txBody>
      </p:sp>
      <p:sp>
        <p:nvSpPr>
          <p:cNvPr id="9" name="Input card"/>
          <p:cNvSpPr/>
          <p:nvPr/>
        </p:nvSpPr>
        <p:spPr>
          <a:xfrm>
            <a:off x="548640" y="3840480"/>
            <a:ext cx="548640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14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6052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4023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C3AED"/>
                </a:solidFill>
              </a:rPr>
              <a:t>CONTINUOUS TELEMETRY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45720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PEF, FEV₁, SpO₂, pulse and respiratory rate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Cough/wheeze, activity, sleep and inhaler use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PM₂.₅, PM₁₀, pollen, temperature and humidity</a:t>
            </a:r>
            <a:endParaRPr lang="en-US" sz="1300" dirty="0"/>
          </a:p>
        </p:txBody>
      </p:sp>
      <p:sp>
        <p:nvSpPr>
          <p:cNvPr id="14" name="Image card"/>
          <p:cNvSpPr/>
          <p:nvPr/>
        </p:nvSpPr>
        <p:spPr>
          <a:xfrm>
            <a:off x="6355080" y="2270862"/>
            <a:ext cx="5394960" cy="3093517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pic>
        <p:nvPicPr>
          <p:cNvPr id="15" name="Image 2" descr="/home/claude/x/ppt/media/image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408022"/>
            <a:ext cx="5120640" cy="2819197"/>
          </a:xfrm>
          <a:prstGeom prst="rect">
            <a:avLst/>
          </a:prstGeom>
        </p:spPr>
      </p:pic>
      <p:sp>
        <p:nvSpPr>
          <p:cNvPr id="16" name="Note pill"/>
          <p:cNvSpPr/>
          <p:nvPr/>
        </p:nvSpPr>
        <p:spPr>
          <a:xfrm>
            <a:off x="548640" y="6035040"/>
            <a:ext cx="11091672" cy="457200"/>
          </a:xfrm>
          <a:prstGeom prst="roundRect">
            <a:avLst>
              <a:gd name="adj" fmla="val 50000"/>
            </a:avLst>
          </a:prstGeom>
          <a:solidFill>
            <a:srgbClr val="E0EAFF"/>
          </a:solidFill>
          <a:ln w="12700">
            <a:solidFill>
              <a:srgbClr val="E0EAFF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6163056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6035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</a:rPr>
              <a:t>The report describes a synthetic five-patient cohort; these are not real patient records.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7432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</a:rPr>
              <a:t>04  /  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Asthra </a:t>
            </a:r>
            <a:r>
              <a:rPr lang="en-US" sz="3000" b="1" dirty="0">
                <a:solidFill>
                  <a:srgbClr val="2563EB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4" name="Input"/>
          <p:cNvSpPr/>
          <p:nvPr/>
        </p:nvSpPr>
        <p:spPr>
          <a:xfrm>
            <a:off x="548640" y="1783080"/>
            <a:ext cx="28346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EHR DATA</a:t>
            </a:r>
            <a:endParaRPr lang="en-US" sz="125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Synthetic Synthea records</a:t>
            </a:r>
            <a:endParaRPr lang="en-US" sz="125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HL7 FHIR R4</a:t>
            </a:r>
            <a:endParaRPr lang="en-US" sz="1250" dirty="0"/>
          </a:p>
        </p:txBody>
      </p:sp>
      <p:sp>
        <p:nvSpPr>
          <p:cNvPr id="7" name="Output"/>
          <p:cNvSpPr/>
          <p:nvPr/>
        </p:nvSpPr>
        <p:spPr>
          <a:xfrm>
            <a:off x="8229600" y="1783080"/>
            <a:ext cx="3410712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0" y="196596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58200" y="17830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5. DASHBOARD</a:t>
            </a:r>
            <a:endParaRPr lang="en-US" sz="125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React UI • patient metrics • 2D/3D respiratory twin</a:t>
            </a:r>
            <a:endParaRPr lang="en-US" sz="1250" dirty="0"/>
          </a:p>
        </p:txBody>
      </p:sp>
      <p:sp>
        <p:nvSpPr>
          <p:cNvPr id="10" name="Input"/>
          <p:cNvSpPr/>
          <p:nvPr/>
        </p:nvSpPr>
        <p:spPr>
          <a:xfrm>
            <a:off x="548640" y="3108960"/>
            <a:ext cx="28346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291840"/>
            <a:ext cx="54864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1089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</a:rPr>
              <a:t>SENSOR TELEMETRY</a:t>
            </a:r>
            <a:endParaRPr lang="en-US" sz="125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PEF, FEV₁, SpO₂, pulse</a:t>
            </a:r>
            <a:endParaRPr lang="en-US" sz="125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Activity and sleep</a:t>
            </a:r>
            <a:endParaRPr lang="en-US" sz="1250" dirty="0"/>
          </a:p>
        </p:txBody>
      </p:sp>
      <p:sp>
        <p:nvSpPr>
          <p:cNvPr id="13" name="Output"/>
          <p:cNvSpPr/>
          <p:nvPr/>
        </p:nvSpPr>
        <p:spPr>
          <a:xfrm>
            <a:off x="8229600" y="3108960"/>
            <a:ext cx="3410712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3291840"/>
            <a:ext cx="54864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58200" y="31089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</a:rPr>
              <a:t>6. WHAT-IF LAB</a:t>
            </a:r>
            <a:endParaRPr lang="en-US" sz="125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Isolated scenario simulation and comparison</a:t>
            </a:r>
            <a:endParaRPr lang="en-US" sz="1250" dirty="0"/>
          </a:p>
        </p:txBody>
      </p:sp>
      <p:sp>
        <p:nvSpPr>
          <p:cNvPr id="16" name="Input"/>
          <p:cNvSpPr/>
          <p:nvPr/>
        </p:nvSpPr>
        <p:spPr>
          <a:xfrm>
            <a:off x="548640" y="4434840"/>
            <a:ext cx="283464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617720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4348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</a:rPr>
              <a:t>ENVIRONMENT</a:t>
            </a:r>
            <a:endParaRPr lang="en-US" sz="125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PM₂.₅ / PM₁₀, pollen</a:t>
            </a:r>
            <a:endParaRPr lang="en-US" sz="125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Temperature, humidity</a:t>
            </a:r>
            <a:endParaRPr lang="en-US" sz="1250" dirty="0"/>
          </a:p>
        </p:txBody>
      </p:sp>
      <p:sp>
        <p:nvSpPr>
          <p:cNvPr id="19" name="Output"/>
          <p:cNvSpPr/>
          <p:nvPr/>
        </p:nvSpPr>
        <p:spPr>
          <a:xfrm>
            <a:off x="8229600" y="4434840"/>
            <a:ext cx="3410712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0" y="4617720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58200" y="44348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</a:rPr>
              <a:t>7. AUDIT &amp; SAFEGUARDS</a:t>
            </a:r>
            <a:endParaRPr lang="en-US" sz="125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Data quality gates • prediction history • human review</a:t>
            </a:r>
            <a:endParaRPr lang="en-US" sz="1250" dirty="0"/>
          </a:p>
        </p:txBody>
      </p:sp>
      <p:sp>
        <p:nvSpPr>
          <p:cNvPr id="22" name="Step"/>
          <p:cNvSpPr/>
          <p:nvPr/>
        </p:nvSpPr>
        <p:spPr>
          <a:xfrm>
            <a:off x="3703320" y="1783080"/>
            <a:ext cx="20574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86200" y="196596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862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886200" y="25146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INGEST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FHIR + telemetry normalization</a:t>
            </a:r>
            <a:endParaRPr lang="en-US" sz="1400" dirty="0"/>
          </a:p>
        </p:txBody>
      </p:sp>
      <p:sp>
        <p:nvSpPr>
          <p:cNvPr id="26" name="Step"/>
          <p:cNvSpPr/>
          <p:nvPr/>
        </p:nvSpPr>
        <p:spPr>
          <a:xfrm>
            <a:off x="5897880" y="1783080"/>
            <a:ext cx="20574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19659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807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080760" y="25146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Range, freshness and quality checks</a:t>
            </a:r>
            <a:endParaRPr lang="en-US" sz="1400" dirty="0"/>
          </a:p>
        </p:txBody>
      </p:sp>
      <p:sp>
        <p:nvSpPr>
          <p:cNvPr id="30" name="Step"/>
          <p:cNvSpPr/>
          <p:nvPr/>
        </p:nvSpPr>
        <p:spPr>
          <a:xfrm>
            <a:off x="3703320" y="3794760"/>
            <a:ext cx="20574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86200" y="39776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862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3886200" y="452628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PERSONALIZE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Patient baseline and features</a:t>
            </a:r>
            <a:endParaRPr lang="en-US" sz="1400" dirty="0"/>
          </a:p>
        </p:txBody>
      </p:sp>
      <p:sp>
        <p:nvSpPr>
          <p:cNvPr id="34" name="Step"/>
          <p:cNvSpPr/>
          <p:nvPr/>
        </p:nvSpPr>
        <p:spPr>
          <a:xfrm>
            <a:off x="5897880" y="3794760"/>
            <a:ext cx="205740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39776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807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080760" y="452628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ANALYZE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Risk forecast + trigger associations</a:t>
            </a:r>
            <a:endParaRPr lang="en-US" sz="140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566160"/>
            <a:ext cx="228600" cy="228600"/>
          </a:xfrm>
          <a:prstGeom prst="rect">
            <a:avLst/>
          </a:prstGeom>
        </p:spPr>
      </p:pic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3566160"/>
            <a:ext cx="228600" cy="228600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548640" y="5760720"/>
            <a:ext cx="11091672" cy="411480"/>
          </a:xfrm>
          <a:prstGeom prst="roundRect">
            <a:avLst>
              <a:gd name="adj" fmla="val 48889"/>
            </a:avLst>
          </a:prstGeom>
          <a:solidFill>
            <a:srgbClr val="E0EAFF"/>
          </a:solidFill>
          <a:ln w="12700">
            <a:solidFill>
              <a:srgbClr val="E0EAFF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8A"/>
                </a:solidFill>
              </a:rPr>
              <a:t>Stack: React 19 + Vite • FastAPI • scikit-learn • Three.js • SQLite/SQLAlchemy</a:t>
            </a:r>
            <a:endParaRPr lang="en-US" sz="1250" dirty="0"/>
          </a:p>
        </p:txBody>
      </p:sp>
      <p:sp>
        <p:nvSpPr>
          <p:cNvPr id="42" name="Text 38"/>
          <p:cNvSpPr txBox="1"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7432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E2DBF3-0582-660D-D17A-E8EFB1E7EB6F}"/>
              </a:ext>
            </a:extLst>
          </p:cNvPr>
          <p:cNvSpPr txBox="1"/>
          <p:nvPr/>
        </p:nvSpPr>
        <p:spPr>
          <a:xfrm>
            <a:off x="13411200" y="48971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</a:rPr>
              <a:t>05  /  VISUALIZATION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The living </a:t>
            </a:r>
            <a:r>
              <a:rPr lang="en-US" sz="3000" b="1" dirty="0">
                <a:solidFill>
                  <a:srgbClr val="2563EB"/>
                </a:solidFill>
              </a:rPr>
              <a:t>respiratory twin</a:t>
            </a:r>
            <a:endParaRPr lang="en-US" sz="3000" dirty="0"/>
          </a:p>
        </p:txBody>
      </p:sp>
      <p:sp>
        <p:nvSpPr>
          <p:cNvPr id="4" name="Row card"/>
          <p:cNvSpPr/>
          <p:nvPr/>
        </p:nvSpPr>
        <p:spPr>
          <a:xfrm>
            <a:off x="548640" y="1783080"/>
            <a:ext cx="5486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14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1305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288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2D physiological view: airway branches, breathing motion and constriction indicators.</a:t>
            </a:r>
            <a:endParaRPr lang="en-US" sz="1350" dirty="0"/>
          </a:p>
        </p:txBody>
      </p:sp>
      <p:sp>
        <p:nvSpPr>
          <p:cNvPr id="8" name="Row card"/>
          <p:cNvSpPr/>
          <p:nvPr/>
        </p:nvSpPr>
        <p:spPr>
          <a:xfrm>
            <a:off x="548640" y="2834640"/>
            <a:ext cx="5486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3017520"/>
            <a:ext cx="548640" cy="548640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14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1821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8803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3D WebGL model: interactive anatomy with rotation, zoom and view presets.</a:t>
            </a:r>
            <a:endParaRPr lang="en-US" sz="1350" dirty="0"/>
          </a:p>
        </p:txBody>
      </p:sp>
      <p:sp>
        <p:nvSpPr>
          <p:cNvPr id="12" name="Row card"/>
          <p:cNvSpPr/>
          <p:nvPr/>
        </p:nvSpPr>
        <p:spPr>
          <a:xfrm>
            <a:off x="548640" y="3886200"/>
            <a:ext cx="5486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0D9488">
              <a:alpha val="14000"/>
            </a:srgbClr>
          </a:solidFill>
          <a:ln w="12700">
            <a:solidFill>
              <a:srgbClr val="0D9488">
                <a:alpha val="14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23367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39319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Vital cards: PEF, SpO₂, pulse and respiratory rate relative to the patient context.</a:t>
            </a:r>
            <a:endParaRPr lang="en-US" sz="1350" dirty="0"/>
          </a:p>
        </p:txBody>
      </p:sp>
      <p:sp>
        <p:nvSpPr>
          <p:cNvPr id="16" name="Row card"/>
          <p:cNvSpPr/>
          <p:nvPr/>
        </p:nvSpPr>
        <p:spPr>
          <a:xfrm>
            <a:off x="548640" y="4937760"/>
            <a:ext cx="5486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5120640"/>
            <a:ext cx="548640" cy="548640"/>
          </a:xfrm>
          <a:prstGeom prst="ellipse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>
                <a:alpha val="14000"/>
              </a:srgbClr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528523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54480" y="49834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Simulation controls advance, pause or reset the synthetic timeline.</a:t>
            </a:r>
            <a:endParaRPr lang="en-US" sz="1350" dirty="0"/>
          </a:p>
        </p:txBody>
      </p:sp>
      <p:sp>
        <p:nvSpPr>
          <p:cNvPr id="20" name="Image card"/>
          <p:cNvSpPr/>
          <p:nvPr/>
        </p:nvSpPr>
        <p:spPr>
          <a:xfrm>
            <a:off x="6355080" y="2273706"/>
            <a:ext cx="5394960" cy="3087827"/>
          </a:xfrm>
          <a:prstGeom prst="roundRect">
            <a:avLst>
              <a:gd name="adj" fmla="val 41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pic>
        <p:nvPicPr>
          <p:cNvPr id="21" name="Image 4" descr="/home/claude/x/ppt/media/image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0529" y="2410866"/>
            <a:ext cx="4964061" cy="2813507"/>
          </a:xfrm>
          <a:prstGeom prst="rect">
            <a:avLst/>
          </a:prstGeom>
        </p:spPr>
      </p:pic>
      <p:sp>
        <p:nvSpPr>
          <p:cNvPr id="22" name="Note pill"/>
          <p:cNvSpPr/>
          <p:nvPr/>
        </p:nvSpPr>
        <p:spPr>
          <a:xfrm>
            <a:off x="548640" y="6035040"/>
            <a:ext cx="11091672" cy="457200"/>
          </a:xfrm>
          <a:prstGeom prst="roundRect">
            <a:avLst>
              <a:gd name="adj" fmla="val 50000"/>
            </a:avLst>
          </a:prstGeom>
          <a:solidFill>
            <a:srgbClr val="E0EAFF"/>
          </a:solidFill>
          <a:ln w="12700">
            <a:solidFill>
              <a:srgbClr val="E0EAFF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6163056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143000" y="6035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</a:rPr>
              <a:t>Visual changes should reflect the selected synthetic twin state—not be treated as diagnostic imaging.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7432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</a:rPr>
              <a:t>07  /  ENVIRONMENTAL INTELLIGENCE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</a:rPr>
              <a:t>Environmental </a:t>
            </a:r>
            <a:r>
              <a:rPr lang="en-US" sz="3000" b="1" dirty="0">
                <a:solidFill>
                  <a:srgbClr val="2563EB"/>
                </a:solidFill>
              </a:rPr>
              <a:t>trigger analysis</a:t>
            </a:r>
            <a:endParaRPr lang="en-US" sz="3000" dirty="0"/>
          </a:p>
        </p:txBody>
      </p:sp>
      <p:sp>
        <p:nvSpPr>
          <p:cNvPr id="4" name="Row card"/>
          <p:cNvSpPr/>
          <p:nvPr/>
        </p:nvSpPr>
        <p:spPr>
          <a:xfrm>
            <a:off x="548640" y="1783080"/>
            <a:ext cx="5486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14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1305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288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Combine PM₂.₅, pollen, temperature and humidity observations with respiratory signals.</a:t>
            </a:r>
            <a:endParaRPr lang="en-US" sz="1350" dirty="0"/>
          </a:p>
        </p:txBody>
      </p:sp>
      <p:sp>
        <p:nvSpPr>
          <p:cNvPr id="8" name="Row card"/>
          <p:cNvSpPr/>
          <p:nvPr/>
        </p:nvSpPr>
        <p:spPr>
          <a:xfrm>
            <a:off x="548640" y="2834640"/>
            <a:ext cx="5486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3017520"/>
            <a:ext cx="548640" cy="548640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14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1821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8803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Compare configurable lag windows: 30 minutes, 1 hour, 2 hours and 6 hours.</a:t>
            </a:r>
            <a:endParaRPr lang="en-US" sz="1350" dirty="0"/>
          </a:p>
        </p:txBody>
      </p:sp>
      <p:sp>
        <p:nvSpPr>
          <p:cNvPr id="12" name="Row card"/>
          <p:cNvSpPr/>
          <p:nvPr/>
        </p:nvSpPr>
        <p:spPr>
          <a:xfrm>
            <a:off x="548640" y="3886200"/>
            <a:ext cx="5486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0D9488">
              <a:alpha val="14000"/>
            </a:srgbClr>
          </a:solidFill>
          <a:ln w="12700">
            <a:solidFill>
              <a:srgbClr val="0D9488">
                <a:alpha val="14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23367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39319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Surface patient-specific associations to help investigate possible triggers.</a:t>
            </a:r>
            <a:endParaRPr lang="en-US" sz="1350" dirty="0"/>
          </a:p>
        </p:txBody>
      </p:sp>
      <p:sp>
        <p:nvSpPr>
          <p:cNvPr id="16" name="Row card"/>
          <p:cNvSpPr/>
          <p:nvPr/>
        </p:nvSpPr>
        <p:spPr>
          <a:xfrm>
            <a:off x="548640" y="4937760"/>
            <a:ext cx="5486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5120640"/>
            <a:ext cx="548640" cy="548640"/>
          </a:xfrm>
          <a:prstGeom prst="ellipse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>
                <a:alpha val="14000"/>
              </a:srgbClr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528523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54480" y="49834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Associations are exploratory; correlation alone does not establish causation.</a:t>
            </a:r>
            <a:endParaRPr lang="en-US" sz="1350" dirty="0"/>
          </a:p>
        </p:txBody>
      </p:sp>
      <p:sp>
        <p:nvSpPr>
          <p:cNvPr id="20" name="Image card"/>
          <p:cNvSpPr/>
          <p:nvPr/>
        </p:nvSpPr>
        <p:spPr>
          <a:xfrm>
            <a:off x="6355080" y="2239569"/>
            <a:ext cx="5394960" cy="3156102"/>
          </a:xfrm>
          <a:prstGeom prst="roundRect">
            <a:avLst>
              <a:gd name="adj" fmla="val 40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pic>
        <p:nvPicPr>
          <p:cNvPr id="21" name="Image 4" descr="/home/claude/x/ppt/media/image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376729"/>
            <a:ext cx="5120640" cy="2881782"/>
          </a:xfrm>
          <a:prstGeom prst="rect">
            <a:avLst/>
          </a:prstGeom>
        </p:spPr>
      </p:pic>
      <p:sp>
        <p:nvSpPr>
          <p:cNvPr id="22" name="Note pill"/>
          <p:cNvSpPr/>
          <p:nvPr/>
        </p:nvSpPr>
        <p:spPr>
          <a:xfrm>
            <a:off x="548640" y="6035040"/>
            <a:ext cx="11091672" cy="457200"/>
          </a:xfrm>
          <a:prstGeom prst="roundRect">
            <a:avLst>
              <a:gd name="adj" fmla="val 50000"/>
            </a:avLst>
          </a:prstGeom>
          <a:solidFill>
            <a:srgbClr val="E0EAFF"/>
          </a:solidFill>
          <a:ln w="12700">
            <a:solidFill>
              <a:srgbClr val="E0EAFF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6163056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143000" y="6035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</a:rPr>
              <a:t>Interpret results alongside data quality, timing and individual variability.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7432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</a:rPr>
              <a:t>08  /  WHAT-IF SCENARIO LAB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</a:rPr>
              <a:t>Explore scenarios without </a:t>
            </a:r>
            <a:r>
              <a:rPr lang="en-US" sz="3000" b="1" dirty="0">
                <a:solidFill>
                  <a:srgbClr val="2563EB"/>
                </a:solidFill>
              </a:rPr>
              <a:t>changing the live twin</a:t>
            </a:r>
            <a:endParaRPr lang="en-US" sz="3000" dirty="0"/>
          </a:p>
        </p:txBody>
      </p:sp>
      <p:sp>
        <p:nvSpPr>
          <p:cNvPr id="4" name="Row card"/>
          <p:cNvSpPr/>
          <p:nvPr/>
        </p:nvSpPr>
        <p:spPr>
          <a:xfrm>
            <a:off x="548640" y="1783080"/>
            <a:ext cx="5486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14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1305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288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Clone the selected synthetic patient state into an isolated simulation.</a:t>
            </a:r>
            <a:endParaRPr lang="en-US" sz="1350" dirty="0"/>
          </a:p>
        </p:txBody>
      </p:sp>
      <p:sp>
        <p:nvSpPr>
          <p:cNvPr id="8" name="Row card"/>
          <p:cNvSpPr/>
          <p:nvPr/>
        </p:nvSpPr>
        <p:spPr>
          <a:xfrm>
            <a:off x="548640" y="2834640"/>
            <a:ext cx="5486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3017520"/>
            <a:ext cx="548640" cy="548640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14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1821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8803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Vary exposure and other scenario assumptions to compare hypothetical trajectories.</a:t>
            </a:r>
            <a:endParaRPr lang="en-US" sz="1350" dirty="0"/>
          </a:p>
        </p:txBody>
      </p:sp>
      <p:sp>
        <p:nvSpPr>
          <p:cNvPr id="12" name="Row card"/>
          <p:cNvSpPr/>
          <p:nvPr/>
        </p:nvSpPr>
        <p:spPr>
          <a:xfrm>
            <a:off x="548640" y="3886200"/>
            <a:ext cx="5486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0D9488">
              <a:alpha val="14000"/>
            </a:srgbClr>
          </a:solidFill>
          <a:ln w="12700">
            <a:solidFill>
              <a:srgbClr val="0D9488">
                <a:alpha val="14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23367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39319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Keep simulated outputs separate from observed patient data.</a:t>
            </a:r>
            <a:endParaRPr lang="en-US" sz="1350" dirty="0"/>
          </a:p>
        </p:txBody>
      </p:sp>
      <p:sp>
        <p:nvSpPr>
          <p:cNvPr id="16" name="Row card"/>
          <p:cNvSpPr/>
          <p:nvPr/>
        </p:nvSpPr>
        <p:spPr>
          <a:xfrm>
            <a:off x="548640" y="4937760"/>
            <a:ext cx="5486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5120640"/>
            <a:ext cx="548640" cy="548640"/>
          </a:xfrm>
          <a:prstGeom prst="ellipse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>
                <a:alpha val="14000"/>
              </a:srgbClr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528523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54480" y="49834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Scenario outputs are exploratory and are not medication instructions.</a:t>
            </a:r>
            <a:endParaRPr lang="en-US" sz="1350" dirty="0"/>
          </a:p>
        </p:txBody>
      </p:sp>
      <p:sp>
        <p:nvSpPr>
          <p:cNvPr id="20" name="Image card"/>
          <p:cNvSpPr/>
          <p:nvPr/>
        </p:nvSpPr>
        <p:spPr>
          <a:xfrm>
            <a:off x="6355080" y="2242414"/>
            <a:ext cx="5394960" cy="3150413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pic>
        <p:nvPicPr>
          <p:cNvPr id="21" name="Image 4" descr="/home/claude/x/ppt/media/image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379574"/>
            <a:ext cx="5120640" cy="2876093"/>
          </a:xfrm>
          <a:prstGeom prst="rect">
            <a:avLst/>
          </a:prstGeom>
        </p:spPr>
      </p:pic>
      <p:sp>
        <p:nvSpPr>
          <p:cNvPr id="22" name="Note pill"/>
          <p:cNvSpPr/>
          <p:nvPr/>
        </p:nvSpPr>
        <p:spPr>
          <a:xfrm>
            <a:off x="548640" y="6035040"/>
            <a:ext cx="11091672" cy="457200"/>
          </a:xfrm>
          <a:prstGeom prst="roundRect">
            <a:avLst>
              <a:gd name="adj" fmla="val 50000"/>
            </a:avLst>
          </a:prstGeom>
          <a:solidFill>
            <a:srgbClr val="E0EAFF"/>
          </a:solidFill>
          <a:ln w="12700">
            <a:solidFill>
              <a:srgbClr val="E0EAFF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6163056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143000" y="6035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</a:rPr>
              <a:t>Use scenario comparisons to support discussion—not to replace clinical judgement.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7432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</a:rPr>
              <a:t>09  /  RESPONSIBLE DEVELOPMENT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</a:rPr>
              <a:t>Evaluation, safeguards </a:t>
            </a:r>
            <a:r>
              <a:rPr lang="en-US" sz="3000" b="1" dirty="0">
                <a:solidFill>
                  <a:srgbClr val="2563EB"/>
                </a:solidFill>
              </a:rPr>
              <a:t>&amp; next steps</a:t>
            </a:r>
            <a:endParaRPr lang="en-US" sz="3000" dirty="0"/>
          </a:p>
        </p:txBody>
      </p:sp>
      <p:sp>
        <p:nvSpPr>
          <p:cNvPr id="4" name="Principle card"/>
          <p:cNvSpPr/>
          <p:nvPr/>
        </p:nvSpPr>
        <p:spPr>
          <a:xfrm>
            <a:off x="548640" y="1783080"/>
            <a:ext cx="3575304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38528"/>
            <a:ext cx="411480" cy="411480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14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048256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93852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</a:rPr>
              <a:t>TEMPORAL VALIDATION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4144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Use chronological train/test separation to reduce temporal leakage.</a:t>
            </a:r>
            <a:endParaRPr lang="en-US" sz="1300" dirty="0"/>
          </a:p>
        </p:txBody>
      </p:sp>
      <p:sp>
        <p:nvSpPr>
          <p:cNvPr id="9" name="Principle card"/>
          <p:cNvSpPr/>
          <p:nvPr/>
        </p:nvSpPr>
        <p:spPr>
          <a:xfrm>
            <a:off x="4306824" y="1783080"/>
            <a:ext cx="3575304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9704" y="1938528"/>
            <a:ext cx="411480" cy="411480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14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048256"/>
            <a:ext cx="192024" cy="1920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38344" y="193852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C3AED"/>
                </a:solidFill>
              </a:rPr>
              <a:t>MODEL METRICS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489704" y="244144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Review ROC-AUC, PR-AUC, calibration, sensitivity and specificity.</a:t>
            </a:r>
            <a:endParaRPr lang="en-US" sz="1300" dirty="0"/>
          </a:p>
        </p:txBody>
      </p:sp>
      <p:sp>
        <p:nvSpPr>
          <p:cNvPr id="14" name="Principle card"/>
          <p:cNvSpPr/>
          <p:nvPr/>
        </p:nvSpPr>
        <p:spPr>
          <a:xfrm>
            <a:off x="8065008" y="1783080"/>
            <a:ext cx="3575304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7888" y="1938528"/>
            <a:ext cx="411480" cy="411480"/>
          </a:xfrm>
          <a:prstGeom prst="ellipse">
            <a:avLst/>
          </a:prstGeom>
          <a:solidFill>
            <a:srgbClr val="0D9488">
              <a:alpha val="14000"/>
            </a:srgbClr>
          </a:solidFill>
          <a:ln w="12700">
            <a:solidFill>
              <a:srgbClr val="0D9488">
                <a:alpha val="14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16" y="2048256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796528" y="193852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D9488"/>
                </a:solidFill>
              </a:rPr>
              <a:t>SAFE ABSTENTION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247888" y="244144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Reduce confidence or withhold predictions when data is stale or unreliable.</a:t>
            </a:r>
            <a:endParaRPr lang="en-US" sz="1300" dirty="0"/>
          </a:p>
        </p:txBody>
      </p:sp>
      <p:sp>
        <p:nvSpPr>
          <p:cNvPr id="19" name="Image card"/>
          <p:cNvSpPr/>
          <p:nvPr/>
        </p:nvSpPr>
        <p:spPr>
          <a:xfrm>
            <a:off x="548640" y="3399680"/>
            <a:ext cx="7040880" cy="251460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pic>
        <p:nvPicPr>
          <p:cNvPr id="20" name="Image 3" descr="/home/claude/x/ppt/media/image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799" y="3706960"/>
            <a:ext cx="6766560" cy="1900038"/>
          </a:xfrm>
          <a:prstGeom prst="rect">
            <a:avLst/>
          </a:prstGeom>
        </p:spPr>
      </p:pic>
      <p:sp>
        <p:nvSpPr>
          <p:cNvPr id="21" name="Next steps card"/>
          <p:cNvSpPr/>
          <p:nvPr/>
        </p:nvSpPr>
        <p:spPr>
          <a:xfrm>
            <a:off x="7818120" y="3399680"/>
            <a:ext cx="3822191" cy="251460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8046720" y="3509408"/>
            <a:ext cx="3456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046720" y="3948320"/>
            <a:ext cx="3456432" cy="1874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</a:rPr>
              <a:t>Validate on independent, representative clinical data.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</a:rPr>
              <a:t>Review calibration, false alarms and missed deterioration.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</a:rPr>
              <a:t>Conduct clinician-led usability and safety evaluation.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</a:rPr>
              <a:t>Keep a clear human-in-the-loop decision process.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64748B"/>
                </a:solidFill>
              </a:rPr>
              <a:t>ASTHRA  •  Anticipate. Understand. Act.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7432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</a:rPr>
              <a:t>10  /  OUTCOME &amp;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</a:rPr>
              <a:t>Project outcome </a:t>
            </a:r>
            <a:r>
              <a:rPr lang="en-US" sz="3000" b="1" dirty="0">
                <a:solidFill>
                  <a:srgbClr val="2563EB"/>
                </a:solidFill>
              </a:rPr>
              <a:t>&amp; impact</a:t>
            </a:r>
            <a:endParaRPr lang="en-US" sz="3000" dirty="0"/>
          </a:p>
        </p:txBody>
      </p:sp>
      <p:sp>
        <p:nvSpPr>
          <p:cNvPr id="4" name="Panel card"/>
          <p:cNvSpPr/>
          <p:nvPr/>
        </p:nvSpPr>
        <p:spPr>
          <a:xfrm>
            <a:off x="548640" y="1783080"/>
            <a:ext cx="521208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563EB"/>
                </a:solidFill>
              </a:rPr>
              <a:t>PROJECT OUTCOME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642616"/>
            <a:ext cx="512064" cy="512064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14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77977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2606040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Personalized Digital Twin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Clinical history + live respiratory and environmental data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3355848"/>
            <a:ext cx="512064" cy="512064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14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349300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3319272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Predictive early warning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ML risk estimate over a configurable horizon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22960" y="4069080"/>
            <a:ext cx="512064" cy="512064"/>
          </a:xfrm>
          <a:prstGeom prst="ellipse">
            <a:avLst/>
          </a:prstGeom>
          <a:solidFill>
            <a:srgbClr val="0D9488">
              <a:alpha val="14000"/>
            </a:srgbClr>
          </a:solidFill>
          <a:ln w="12700">
            <a:solidFill>
              <a:srgbClr val="0D9488">
                <a:alpha val="14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420624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4032504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Trigger analysis &amp; what-if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PM₂.₅, PM₁₀, pollen links and isolated scenarios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22960" y="4782312"/>
            <a:ext cx="512064" cy="512064"/>
          </a:xfrm>
          <a:prstGeom prst="ellipse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>
                <a:alpha val="14000"/>
              </a:srgbClr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4919472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4745736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Dashboard &amp; traceability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Explanations, data-quality checks, prediction history</a:t>
            </a:r>
            <a:endParaRPr lang="en-US" sz="1400" dirty="0"/>
          </a:p>
        </p:txBody>
      </p:sp>
      <p:sp>
        <p:nvSpPr>
          <p:cNvPr id="19" name="Panel card"/>
          <p:cNvSpPr/>
          <p:nvPr/>
        </p:nvSpPr>
        <p:spPr>
          <a:xfrm>
            <a:off x="6428232" y="1783080"/>
            <a:ext cx="521208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702552" y="2103120"/>
            <a:ext cx="5486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85432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9488"/>
                </a:solidFill>
              </a:rPr>
              <a:t>PROJECT IMPACT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702552" y="2642616"/>
            <a:ext cx="512064" cy="512064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14000"/>
              </a:srgbClr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779776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388352" y="2606040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Earlier awareness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Spot concerning trends before they worsen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702552" y="3355848"/>
            <a:ext cx="512064" cy="512064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14000"/>
              </a:srgbClr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3493008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388352" y="3319272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Personalized insights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Patient-specific exposure patterns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6702552" y="4069080"/>
            <a:ext cx="512064" cy="512064"/>
          </a:xfrm>
          <a:prstGeom prst="ellipse">
            <a:avLst/>
          </a:prstGeom>
          <a:solidFill>
            <a:srgbClr val="0D9488">
              <a:alpha val="14000"/>
            </a:srgbClr>
          </a:solidFill>
          <a:ln w="12700">
            <a:solidFill>
              <a:srgbClr val="0D9488">
                <a:alpha val="14000"/>
              </a:srgbClr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4206240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388352" y="4032504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Safer AI-assisted decisions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Explanations, uncertainty indicators, audit trails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6702552" y="4782312"/>
            <a:ext cx="512064" cy="512064"/>
          </a:xfrm>
          <a:prstGeom prst="ellipse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>
                <a:alpha val="14000"/>
              </a:srgbClr>
            </a:solidFill>
            <a:prstDash val="solid"/>
          </a:ln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4919472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388352" y="4745736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Remote monitoring foundation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Ready for wearables and connected spirometers</a:t>
            </a:r>
            <a:endParaRPr lang="en-US" sz="1400" dirty="0"/>
          </a:p>
        </p:txBody>
      </p:sp>
      <p:sp>
        <p:nvSpPr>
          <p:cNvPr id="34" name="Shape 24"/>
          <p:cNvSpPr/>
          <p:nvPr/>
        </p:nvSpPr>
        <p:spPr>
          <a:xfrm>
            <a:off x="5852160" y="3429000"/>
            <a:ext cx="484632" cy="4846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7608" y="3593592"/>
            <a:ext cx="182880" cy="182880"/>
          </a:xfrm>
          <a:prstGeom prst="rect">
            <a:avLst/>
          </a:prstGeom>
        </p:spPr>
      </p:pic>
      <p:sp>
        <p:nvSpPr>
          <p:cNvPr id="36" name="Shape 25"/>
          <p:cNvSpPr/>
          <p:nvPr/>
        </p:nvSpPr>
        <p:spPr>
          <a:xfrm>
            <a:off x="548640" y="5715000"/>
            <a:ext cx="11091672" cy="640080"/>
          </a:xfrm>
          <a:prstGeom prst="roundRect">
            <a:avLst>
              <a:gd name="adj" fmla="val 28571"/>
            </a:avLst>
          </a:prstGeom>
          <a:solidFill>
            <a:srgbClr val="E0EAFF"/>
          </a:solidFill>
          <a:ln w="12700">
            <a:solidFill>
              <a:srgbClr val="E0EAFF"/>
            </a:solidFill>
            <a:prstDash val="solid"/>
          </a:ln>
        </p:spPr>
      </p:sp>
      <p:sp>
        <p:nvSpPr>
          <p:cNvPr id="37" name="Text 26"/>
          <p:cNvSpPr txBox="1"/>
          <p:nvPr/>
        </p:nvSpPr>
        <p:spPr>
          <a:xfrm>
            <a:off x="777240" y="5715000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Overall: </a:t>
            </a:r>
            <a:r>
              <a:rPr lang="en-US" sz="1300" dirty="0">
                <a:solidFill>
                  <a:srgbClr val="1E3A8A"/>
                </a:solidFill>
              </a:rPr>
              <a:t>a proactive, explainable Digital Twin pathway for asthma care. A functional research prototype — clinical effectiveness needs real-world validation.</a:t>
            </a:r>
            <a:endParaRPr lang="en-US" sz="13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27432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thra Light">
  <a:themeElements>
    <a:clrScheme name="Asthra Light">
      <a:dk1>
        <a:srgbClr val="0F172A"/>
      </a:dk1>
      <a:lt1>
        <a:srgbClr val="FFFFFF"/>
      </a:lt1>
      <a:dk2>
        <a:srgbClr val="64748B"/>
      </a:dk2>
      <a:lt2>
        <a:srgbClr val="F5F8FF"/>
      </a:lt2>
      <a:accent1>
        <a:srgbClr val="2563EB"/>
      </a:accent1>
      <a:accent2>
        <a:srgbClr val="7C3AED"/>
      </a:accent2>
      <a:accent3>
        <a:srgbClr val="0D9488"/>
      </a:accent3>
      <a:accent4>
        <a:srgbClr val="F59E0B"/>
      </a:accent4>
      <a:accent5>
        <a:srgbClr val="EC4899"/>
      </a:accent5>
      <a:accent6>
        <a:srgbClr val="0EA5E9"/>
      </a:accent6>
      <a:hlink>
        <a:srgbClr val="2563EB"/>
      </a:hlink>
      <a:folHlink>
        <a:srgbClr val="7C3AED"/>
      </a:folHlink>
    </a:clrScheme>
    <a:fontScheme name="Asthra L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</Words>
  <Application>Microsoft Office PowerPoint</Application>
  <PresentationFormat>Widescreen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Asthra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Asthra – Digital Twin Platform</dc:title>
  <dc:subject>PptxGenJS Presentation</dc:subject>
  <dc:creator>PptxGenJS</dc:creator>
  <cp:lastModifiedBy>Sakshi Kaushik</cp:lastModifiedBy>
  <cp:revision>2</cp:revision>
  <dcterms:created xsi:type="dcterms:W3CDTF">2026-10-20T12:15:12Z</dcterms:created>
  <dcterms:modified xsi:type="dcterms:W3CDTF">2026-10-21T15:04:44Z</dcterms:modified>
</cp:coreProperties>
</file>